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75" r:id="rId3"/>
    <p:sldId id="274" r:id="rId4"/>
    <p:sldId id="267" r:id="rId5"/>
    <p:sldId id="271" r:id="rId6"/>
    <p:sldId id="270" r:id="rId7"/>
    <p:sldId id="272" r:id="rId8"/>
    <p:sldId id="273" r:id="rId9"/>
    <p:sldId id="269" r:id="rId10"/>
    <p:sldId id="276"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3B3B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E0061F-BFDE-7175-2EDA-F472504290F4}" v="789" dt="2020-12-24T05:43:13.3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5833"/>
  </p:normalViewPr>
  <p:slideViewPr>
    <p:cSldViewPr snapToGrid="0">
      <p:cViewPr varScale="1">
        <p:scale>
          <a:sx n="112" d="100"/>
          <a:sy n="112" d="100"/>
        </p:scale>
        <p:origin x="576" y="3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6/21/23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49232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6/21/23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4894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6/21/23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887173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C764DE79-268F-4C1A-8933-263129D2AF90}" type="datetimeFigureOut">
              <a:rPr lang="en-US" dirty="0"/>
              <a:t>6/21/23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12881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764DE79-268F-4C1A-8933-263129D2AF90}" type="datetimeFigureOut">
              <a:rPr lang="en-US" dirty="0"/>
              <a:t>6/21/23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887126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C764DE79-268F-4C1A-8933-263129D2AF90}" type="datetimeFigureOut">
              <a:rPr lang="en-US" dirty="0"/>
              <a:t>6/21/23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840621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6/21/23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747478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6/21/23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35815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6/21/23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625847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6/21/23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54809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6/21/23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78620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6/21/23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322171821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B3B3B"/>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41DC996-1A4B-4D4F-A733-3A00E5ABC2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332" y="0"/>
            <a:ext cx="2325467" cy="2325467"/>
          </a:xfrm>
          <a:prstGeom prst="rect">
            <a:avLst/>
          </a:prstGeom>
        </p:spPr>
      </p:pic>
      <p:sp>
        <p:nvSpPr>
          <p:cNvPr id="11" name="TextBox 10">
            <a:extLst>
              <a:ext uri="{FF2B5EF4-FFF2-40B4-BE49-F238E27FC236}">
                <a16:creationId xmlns:a16="http://schemas.microsoft.com/office/drawing/2014/main" id="{00CC22B5-8500-2C45-91DE-A596A6DF1C3B}"/>
              </a:ext>
            </a:extLst>
          </p:cNvPr>
          <p:cNvSpPr txBox="1"/>
          <p:nvPr/>
        </p:nvSpPr>
        <p:spPr>
          <a:xfrm>
            <a:off x="870857" y="2380343"/>
            <a:ext cx="8873711" cy="3385542"/>
          </a:xfrm>
          <a:prstGeom prst="rect">
            <a:avLst/>
          </a:prstGeom>
          <a:solidFill>
            <a:srgbClr val="3B3B3B"/>
          </a:solidFill>
        </p:spPr>
        <p:txBody>
          <a:bodyPr wrap="none" rtlCol="0">
            <a:spAutoFit/>
          </a:bodyPr>
          <a:lstStyle/>
          <a:p>
            <a:r>
              <a:rPr lang="en-US" sz="6600" dirty="0">
                <a:solidFill>
                  <a:srgbClr val="FF6600"/>
                </a:solidFill>
              </a:rPr>
              <a:t>Exploratory Data Analysis</a:t>
            </a:r>
          </a:p>
          <a:p>
            <a:r>
              <a:rPr lang="en-US" sz="4000" dirty="0"/>
              <a:t>G2M Case Study</a:t>
            </a:r>
            <a:br>
              <a:rPr lang="en-US" sz="4000" dirty="0"/>
            </a:br>
            <a:r>
              <a:rPr lang="en-US" sz="4000" dirty="0"/>
              <a:t>Virtual Internship</a:t>
            </a:r>
            <a:br>
              <a:rPr lang="en-US" sz="4000" dirty="0"/>
            </a:br>
            <a:endParaRPr lang="en-US" sz="4000" dirty="0"/>
          </a:p>
          <a:p>
            <a:r>
              <a:rPr lang="en-US" sz="2800" b="1" dirty="0"/>
              <a:t>21</a:t>
            </a:r>
            <a:r>
              <a:rPr lang="en-US" sz="2800" b="1" baseline="30000" dirty="0"/>
              <a:t>st</a:t>
            </a:r>
            <a:r>
              <a:rPr lang="en-US" sz="2800" b="1" dirty="0"/>
              <a:t> June 2023</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8F26E-9345-4747-9094-972E38700A17}"/>
              </a:ext>
            </a:extLst>
          </p:cNvPr>
          <p:cNvSpPr>
            <a:spLocks noGrp="1"/>
          </p:cNvSpPr>
          <p:nvPr>
            <p:ph type="ctrTitle"/>
          </p:nvPr>
        </p:nvSpPr>
        <p:spPr>
          <a:xfrm rot="5400000">
            <a:off x="-960121" y="960120"/>
            <a:ext cx="6858002" cy="4937761"/>
          </a:xfrm>
          <a:solidFill>
            <a:srgbClr val="3B3B3B"/>
          </a:solidFill>
        </p:spPr>
        <p:txBody>
          <a:bodyPr vert="vert270" anchor="t" anchorCtr="0"/>
          <a:lstStyle/>
          <a:p>
            <a:br>
              <a:rPr lang="en-US" dirty="0"/>
            </a:br>
            <a:br>
              <a:rPr lang="en-US" dirty="0"/>
            </a:br>
            <a:r>
              <a:rPr lang="en-US" b="1" dirty="0">
                <a:solidFill>
                  <a:srgbClr val="FF6600"/>
                </a:solidFill>
              </a:rPr>
              <a:t>Background And Information About Data</a:t>
            </a:r>
          </a:p>
        </p:txBody>
      </p:sp>
      <p:sp>
        <p:nvSpPr>
          <p:cNvPr id="3" name="Subtitle 2">
            <a:extLst>
              <a:ext uri="{FF2B5EF4-FFF2-40B4-BE49-F238E27FC236}">
                <a16:creationId xmlns:a16="http://schemas.microsoft.com/office/drawing/2014/main" id="{60B3D5A6-E766-7C41-BD00-B22DA4727FBA}"/>
              </a:ext>
            </a:extLst>
          </p:cNvPr>
          <p:cNvSpPr>
            <a:spLocks noGrp="1"/>
          </p:cNvSpPr>
          <p:nvPr>
            <p:ph type="subTitle" idx="1"/>
          </p:nvPr>
        </p:nvSpPr>
        <p:spPr>
          <a:xfrm rot="5400000">
            <a:off x="5223509" y="34291"/>
            <a:ext cx="6858004" cy="6789422"/>
          </a:xfrm>
        </p:spPr>
        <p:txBody>
          <a:bodyPr vert="vert270">
            <a:normAutofit fontScale="77500" lnSpcReduction="20000"/>
          </a:bodyPr>
          <a:lstStyle/>
          <a:p>
            <a:pPr algn="just"/>
            <a:r>
              <a:rPr lang="en-US" sz="2800" dirty="0">
                <a:solidFill>
                  <a:srgbClr val="FF6600"/>
                </a:solidFill>
              </a:rPr>
              <a:t>     </a:t>
            </a:r>
          </a:p>
          <a:p>
            <a:pPr marL="457200" indent="-457200" algn="just">
              <a:buFontTx/>
              <a:buChar char="-"/>
            </a:pPr>
            <a:r>
              <a:rPr lang="en-US" sz="2800" dirty="0"/>
              <a:t>XYZ is a private firm in US. Due to remarkable growth in the Cab Industry in last few years and multiple key players in the market, it is planning for an investment in Cab industry, and they want to understand the market before taking final decision. </a:t>
            </a:r>
          </a:p>
          <a:p>
            <a:pPr marL="457200" indent="-457200" algn="just">
              <a:buFontTx/>
              <a:buChar char="-"/>
            </a:pPr>
            <a:r>
              <a:rPr lang="en-US" sz="2800" dirty="0"/>
              <a:t>Time period of data is from 31/01/2016 to 31/12/2018.</a:t>
            </a:r>
          </a:p>
          <a:p>
            <a:pPr marL="457200" indent="-457200" algn="just">
              <a:buFontTx/>
              <a:buChar char="-"/>
            </a:pPr>
            <a:r>
              <a:rPr lang="en-US" sz="2800" dirty="0"/>
              <a:t>Each data set represents different aspects of the customer profile.</a:t>
            </a:r>
          </a:p>
          <a:p>
            <a:pPr algn="just"/>
            <a:endParaRPr lang="en-US" sz="2800" dirty="0"/>
          </a:p>
          <a:p>
            <a:pPr algn="just"/>
            <a:r>
              <a:rPr lang="en-US" sz="2800" dirty="0"/>
              <a:t>Cab Data – this file includes details of transaction for 2 cab companies</a:t>
            </a:r>
          </a:p>
          <a:p>
            <a:pPr algn="just"/>
            <a:r>
              <a:rPr lang="en-US" sz="2800" dirty="0"/>
              <a:t>Customer ID – this is a mapping table that contains a unique identifier which links the customer’s demographic details</a:t>
            </a:r>
          </a:p>
          <a:p>
            <a:pPr algn="just"/>
            <a:r>
              <a:rPr lang="en-US" sz="2800" dirty="0"/>
              <a:t>Transaction ID – this is a mapping table that contains transaction to customer mapping and payment mode</a:t>
            </a:r>
          </a:p>
          <a:p>
            <a:pPr algn="just"/>
            <a:r>
              <a:rPr lang="en-US" sz="2800" dirty="0"/>
              <a:t>City – this file contains list of US cities, their population and number of cab users</a:t>
            </a:r>
          </a:p>
          <a:p>
            <a:pPr algn="just"/>
            <a:r>
              <a:rPr lang="en-US" sz="2800" dirty="0"/>
              <a:t>XYZ is interested in using your actionable insights to help them identify the right company to make their investment.</a:t>
            </a:r>
          </a:p>
          <a:p>
            <a:pPr algn="just"/>
            <a:endParaRPr lang="en-US" sz="3200" dirty="0">
              <a:solidFill>
                <a:srgbClr val="FF6600"/>
              </a:solidFill>
            </a:endParaRPr>
          </a:p>
          <a:p>
            <a:endParaRPr lang="en-US" dirty="0">
              <a:solidFill>
                <a:srgbClr val="FF6600"/>
              </a:solidFill>
            </a:endParaRPr>
          </a:p>
          <a:p>
            <a:endParaRPr lang="en-US" dirty="0">
              <a:solidFill>
                <a:srgbClr val="FF6600"/>
              </a:solidFill>
            </a:endParaRPr>
          </a:p>
        </p:txBody>
      </p:sp>
      <p:pic>
        <p:nvPicPr>
          <p:cNvPr id="4" name="Picture 3">
            <a:extLst>
              <a:ext uri="{FF2B5EF4-FFF2-40B4-BE49-F238E27FC236}">
                <a16:creationId xmlns:a16="http://schemas.microsoft.com/office/drawing/2014/main" id="{7A465064-0714-5743-882B-8875105A70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63771"/>
            <a:ext cx="1654627" cy="994232"/>
          </a:xfrm>
          <a:prstGeom prst="rect">
            <a:avLst/>
          </a:prstGeom>
        </p:spPr>
      </p:pic>
    </p:spTree>
    <p:extLst>
      <p:ext uri="{BB962C8B-B14F-4D97-AF65-F5344CB8AC3E}">
        <p14:creationId xmlns:p14="http://schemas.microsoft.com/office/powerpoint/2010/main" val="1855962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8F26E-9345-4747-9094-972E38700A17}"/>
              </a:ext>
            </a:extLst>
          </p:cNvPr>
          <p:cNvSpPr>
            <a:spLocks noGrp="1"/>
          </p:cNvSpPr>
          <p:nvPr>
            <p:ph type="ctrTitle"/>
          </p:nvPr>
        </p:nvSpPr>
        <p:spPr>
          <a:xfrm rot="5400000">
            <a:off x="-948691" y="948690"/>
            <a:ext cx="6858002" cy="4960621"/>
          </a:xfrm>
          <a:solidFill>
            <a:srgbClr val="3B3B3B"/>
          </a:solidFill>
        </p:spPr>
        <p:txBody>
          <a:bodyPr vert="vert270" anchor="t" anchorCtr="0"/>
          <a:lstStyle/>
          <a:p>
            <a:br>
              <a:rPr lang="en-US" dirty="0"/>
            </a:br>
            <a:br>
              <a:rPr lang="en-US" dirty="0"/>
            </a:br>
            <a:br>
              <a:rPr lang="en-US" dirty="0"/>
            </a:br>
            <a:r>
              <a:rPr lang="en-US" b="1" dirty="0">
                <a:solidFill>
                  <a:srgbClr val="FF6600"/>
                </a:solidFill>
              </a:rPr>
              <a:t>Hypothesis</a:t>
            </a:r>
          </a:p>
        </p:txBody>
      </p:sp>
      <p:sp>
        <p:nvSpPr>
          <p:cNvPr id="3" name="Subtitle 2">
            <a:extLst>
              <a:ext uri="{FF2B5EF4-FFF2-40B4-BE49-F238E27FC236}">
                <a16:creationId xmlns:a16="http://schemas.microsoft.com/office/drawing/2014/main" id="{60B3D5A6-E766-7C41-BD00-B22DA4727FBA}"/>
              </a:ext>
            </a:extLst>
          </p:cNvPr>
          <p:cNvSpPr>
            <a:spLocks noGrp="1"/>
          </p:cNvSpPr>
          <p:nvPr>
            <p:ph type="subTitle" idx="1"/>
          </p:nvPr>
        </p:nvSpPr>
        <p:spPr>
          <a:xfrm rot="5400000">
            <a:off x="5120637" y="102872"/>
            <a:ext cx="6858004" cy="6652260"/>
          </a:xfrm>
        </p:spPr>
        <p:txBody>
          <a:bodyPr vert="vert270">
            <a:normAutofit/>
          </a:bodyPr>
          <a:lstStyle/>
          <a:p>
            <a:endParaRPr lang="en-US" dirty="0">
              <a:solidFill>
                <a:srgbClr val="FF6600"/>
              </a:solidFill>
            </a:endParaRPr>
          </a:p>
          <a:p>
            <a:pPr marL="457200" indent="-457200" algn="just">
              <a:buFontTx/>
              <a:buChar char="-"/>
            </a:pPr>
            <a:endParaRPr lang="en-US" sz="2200" dirty="0"/>
          </a:p>
          <a:p>
            <a:pPr marL="457200" indent="-457200" algn="just">
              <a:buFontTx/>
              <a:buChar char="-"/>
            </a:pPr>
            <a:endParaRPr lang="en-US" sz="2200" dirty="0"/>
          </a:p>
          <a:p>
            <a:pPr marL="457200" indent="-457200" algn="just">
              <a:buFontTx/>
              <a:buChar char="-"/>
            </a:pPr>
            <a:r>
              <a:rPr lang="en-US" sz="2200" u="sng" dirty="0"/>
              <a:t>Profit analysis</a:t>
            </a:r>
            <a:r>
              <a:rPr lang="en-US" sz="2200" dirty="0"/>
              <a:t>: Profit analysis of a firm is the topmost criteria if we are looking to invest in a company.</a:t>
            </a:r>
          </a:p>
          <a:p>
            <a:pPr marL="457200" indent="-457200" algn="just">
              <a:buFontTx/>
              <a:buChar char="-"/>
            </a:pPr>
            <a:r>
              <a:rPr lang="en-US" sz="2200" u="sng" dirty="0"/>
              <a:t>Number of rides analysis</a:t>
            </a:r>
            <a:r>
              <a:rPr lang="en-US" sz="2200" dirty="0"/>
              <a:t>: Total transactions also define profits and popularity of the company.</a:t>
            </a:r>
          </a:p>
          <a:p>
            <a:pPr marL="457200" indent="-457200" algn="just">
              <a:buFontTx/>
              <a:buChar char="-"/>
            </a:pPr>
            <a:r>
              <a:rPr lang="en-US" sz="2200" u="sng" dirty="0"/>
              <a:t>Customer analysis</a:t>
            </a:r>
            <a:r>
              <a:rPr lang="en-US" sz="2200" dirty="0"/>
              <a:t>: As this industry is customer service driven, we need to focus on customers preferences towards the companies.</a:t>
            </a:r>
          </a:p>
          <a:p>
            <a:pPr marL="457200" indent="-457200" algn="just">
              <a:buFontTx/>
              <a:buChar char="-"/>
            </a:pPr>
            <a:r>
              <a:rPr lang="en-US" sz="2200" u="sng" dirty="0"/>
              <a:t>Geographic location analysis</a:t>
            </a:r>
            <a:r>
              <a:rPr lang="en-US" sz="2200" dirty="0"/>
              <a:t>: Geographic location plays an important role for the development of any industry.</a:t>
            </a:r>
          </a:p>
          <a:p>
            <a:pPr marL="457200" indent="-457200" algn="just">
              <a:buFontTx/>
              <a:buChar char="-"/>
            </a:pPr>
            <a:r>
              <a:rPr lang="en-US" sz="2200" u="sng" dirty="0"/>
              <a:t>Holiday Analysis</a:t>
            </a:r>
            <a:r>
              <a:rPr lang="en-US" sz="2200" dirty="0"/>
              <a:t>: Customer preferences and profit earned during holidays are compared.</a:t>
            </a:r>
          </a:p>
          <a:p>
            <a:pPr algn="just"/>
            <a:endParaRPr lang="en-US" sz="3200" dirty="0">
              <a:solidFill>
                <a:srgbClr val="FF6600"/>
              </a:solidFill>
            </a:endParaRPr>
          </a:p>
          <a:p>
            <a:endParaRPr lang="en-US" dirty="0">
              <a:solidFill>
                <a:srgbClr val="FF6600"/>
              </a:solidFill>
            </a:endParaRPr>
          </a:p>
          <a:p>
            <a:endParaRPr lang="en-US" dirty="0">
              <a:solidFill>
                <a:srgbClr val="FF6600"/>
              </a:solidFill>
            </a:endParaRPr>
          </a:p>
        </p:txBody>
      </p:sp>
      <p:pic>
        <p:nvPicPr>
          <p:cNvPr id="4" name="Picture 3">
            <a:extLst>
              <a:ext uri="{FF2B5EF4-FFF2-40B4-BE49-F238E27FC236}">
                <a16:creationId xmlns:a16="http://schemas.microsoft.com/office/drawing/2014/main" id="{7A465064-0714-5743-882B-8875105A70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63771"/>
            <a:ext cx="1654627" cy="994232"/>
          </a:xfrm>
          <a:prstGeom prst="rect">
            <a:avLst/>
          </a:prstGeom>
        </p:spPr>
      </p:pic>
    </p:spTree>
    <p:extLst>
      <p:ext uri="{BB962C8B-B14F-4D97-AF65-F5344CB8AC3E}">
        <p14:creationId xmlns:p14="http://schemas.microsoft.com/office/powerpoint/2010/main" val="2693642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8F26E-9345-4747-9094-972E38700A17}"/>
              </a:ext>
            </a:extLst>
          </p:cNvPr>
          <p:cNvSpPr>
            <a:spLocks noGrp="1"/>
          </p:cNvSpPr>
          <p:nvPr>
            <p:ph type="ctrTitle"/>
          </p:nvPr>
        </p:nvSpPr>
        <p:spPr>
          <a:xfrm rot="5400000">
            <a:off x="-948692" y="948691"/>
            <a:ext cx="6858002" cy="4960619"/>
          </a:xfrm>
          <a:solidFill>
            <a:srgbClr val="3B3B3B"/>
          </a:solidFill>
        </p:spPr>
        <p:txBody>
          <a:bodyPr vert="vert270" anchor="t" anchorCtr="0"/>
          <a:lstStyle/>
          <a:p>
            <a:br>
              <a:rPr lang="en-US" dirty="0"/>
            </a:br>
            <a:br>
              <a:rPr lang="en-US" dirty="0"/>
            </a:br>
            <a:br>
              <a:rPr lang="en-US" dirty="0"/>
            </a:br>
            <a:r>
              <a:rPr lang="en-US" b="1" dirty="0">
                <a:solidFill>
                  <a:srgbClr val="FF6600"/>
                </a:solidFill>
              </a:rPr>
              <a:t>Profit per ride analysis</a:t>
            </a:r>
          </a:p>
        </p:txBody>
      </p:sp>
      <p:sp>
        <p:nvSpPr>
          <p:cNvPr id="3" name="Subtitle 2">
            <a:extLst>
              <a:ext uri="{FF2B5EF4-FFF2-40B4-BE49-F238E27FC236}">
                <a16:creationId xmlns:a16="http://schemas.microsoft.com/office/drawing/2014/main" id="{60B3D5A6-E766-7C41-BD00-B22DA4727FBA}"/>
              </a:ext>
            </a:extLst>
          </p:cNvPr>
          <p:cNvSpPr>
            <a:spLocks noGrp="1"/>
          </p:cNvSpPr>
          <p:nvPr>
            <p:ph type="subTitle" idx="1"/>
          </p:nvPr>
        </p:nvSpPr>
        <p:spPr>
          <a:xfrm rot="5400000">
            <a:off x="5533569" y="199573"/>
            <a:ext cx="6858004" cy="6458857"/>
          </a:xfrm>
        </p:spPr>
        <p:txBody>
          <a:bodyPr vert="vert270">
            <a:normAutofit/>
          </a:bodyPr>
          <a:lstStyle/>
          <a:p>
            <a:endParaRPr lang="en-US" dirty="0">
              <a:solidFill>
                <a:srgbClr val="FF6600"/>
              </a:solidFill>
            </a:endParaRPr>
          </a:p>
          <a:p>
            <a:pPr algn="just"/>
            <a:r>
              <a:rPr lang="en-US" dirty="0">
                <a:solidFill>
                  <a:srgbClr val="FF6600"/>
                </a:solidFill>
              </a:rPr>
              <a:t>   </a:t>
            </a:r>
          </a:p>
          <a:p>
            <a:pPr algn="just"/>
            <a:r>
              <a:rPr lang="en-US" sz="2800" dirty="0">
                <a:solidFill>
                  <a:srgbClr val="FF6600"/>
                </a:solidFill>
              </a:rPr>
              <a:t>         </a:t>
            </a:r>
          </a:p>
          <a:p>
            <a:pPr algn="just"/>
            <a:r>
              <a:rPr lang="en-US" sz="2800" dirty="0">
                <a:solidFill>
                  <a:srgbClr val="FF6600"/>
                </a:solidFill>
              </a:rPr>
              <a:t>         </a:t>
            </a:r>
            <a:endParaRPr lang="en-US" sz="3200" dirty="0">
              <a:solidFill>
                <a:srgbClr val="FF6600"/>
              </a:solidFill>
            </a:endParaRPr>
          </a:p>
          <a:p>
            <a:endParaRPr lang="en-US" dirty="0">
              <a:solidFill>
                <a:srgbClr val="FF6600"/>
              </a:solidFill>
            </a:endParaRPr>
          </a:p>
          <a:p>
            <a:endParaRPr lang="en-US" dirty="0">
              <a:solidFill>
                <a:srgbClr val="FF6600"/>
              </a:solidFill>
            </a:endParaRPr>
          </a:p>
        </p:txBody>
      </p:sp>
      <p:pic>
        <p:nvPicPr>
          <p:cNvPr id="4" name="Picture 3">
            <a:extLst>
              <a:ext uri="{FF2B5EF4-FFF2-40B4-BE49-F238E27FC236}">
                <a16:creationId xmlns:a16="http://schemas.microsoft.com/office/drawing/2014/main" id="{7A465064-0714-5743-882B-8875105A70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63771"/>
            <a:ext cx="1654627" cy="994232"/>
          </a:xfrm>
          <a:prstGeom prst="rect">
            <a:avLst/>
          </a:prstGeom>
        </p:spPr>
      </p:pic>
      <p:pic>
        <p:nvPicPr>
          <p:cNvPr id="6" name="Picture 5" descr="A picture containing text, screenshot, font, number&#10;&#10;Description automatically generated">
            <a:extLst>
              <a:ext uri="{FF2B5EF4-FFF2-40B4-BE49-F238E27FC236}">
                <a16:creationId xmlns:a16="http://schemas.microsoft.com/office/drawing/2014/main" id="{BA32EDFF-6EAE-5188-85A8-01E8928D65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60619" y="0"/>
            <a:ext cx="7231379" cy="6858000"/>
          </a:xfrm>
          <a:prstGeom prst="rect">
            <a:avLst/>
          </a:prstGeom>
        </p:spPr>
      </p:pic>
    </p:spTree>
    <p:extLst>
      <p:ext uri="{BB962C8B-B14F-4D97-AF65-F5344CB8AC3E}">
        <p14:creationId xmlns:p14="http://schemas.microsoft.com/office/powerpoint/2010/main" val="4047255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8F26E-9345-4747-9094-972E38700A17}"/>
              </a:ext>
            </a:extLst>
          </p:cNvPr>
          <p:cNvSpPr>
            <a:spLocks noGrp="1"/>
          </p:cNvSpPr>
          <p:nvPr>
            <p:ph type="ctrTitle"/>
          </p:nvPr>
        </p:nvSpPr>
        <p:spPr>
          <a:xfrm rot="5400000">
            <a:off x="-925832" y="925830"/>
            <a:ext cx="6858002" cy="5006341"/>
          </a:xfrm>
          <a:solidFill>
            <a:srgbClr val="3B3B3B"/>
          </a:solidFill>
        </p:spPr>
        <p:txBody>
          <a:bodyPr vert="vert270" anchor="t" anchorCtr="0"/>
          <a:lstStyle/>
          <a:p>
            <a:br>
              <a:rPr lang="en-US" dirty="0"/>
            </a:br>
            <a:br>
              <a:rPr lang="en-US" dirty="0"/>
            </a:br>
            <a:br>
              <a:rPr lang="en-US" dirty="0"/>
            </a:br>
            <a:r>
              <a:rPr lang="en-US" b="1" dirty="0">
                <a:solidFill>
                  <a:srgbClr val="FF6600"/>
                </a:solidFill>
              </a:rPr>
              <a:t>Average monthly ride analysis</a:t>
            </a:r>
          </a:p>
        </p:txBody>
      </p:sp>
      <p:sp>
        <p:nvSpPr>
          <p:cNvPr id="3" name="Subtitle 2">
            <a:extLst>
              <a:ext uri="{FF2B5EF4-FFF2-40B4-BE49-F238E27FC236}">
                <a16:creationId xmlns:a16="http://schemas.microsoft.com/office/drawing/2014/main" id="{60B3D5A6-E766-7C41-BD00-B22DA4727FBA}"/>
              </a:ext>
            </a:extLst>
          </p:cNvPr>
          <p:cNvSpPr>
            <a:spLocks noGrp="1"/>
          </p:cNvSpPr>
          <p:nvPr>
            <p:ph type="subTitle" idx="1"/>
          </p:nvPr>
        </p:nvSpPr>
        <p:spPr>
          <a:xfrm rot="5400000">
            <a:off x="5135881" y="-129540"/>
            <a:ext cx="6926578" cy="7185661"/>
          </a:xfrm>
        </p:spPr>
        <p:txBody>
          <a:bodyPr vert="vert270">
            <a:normAutofit/>
          </a:bodyPr>
          <a:lstStyle/>
          <a:p>
            <a:endParaRPr lang="en-US" dirty="0">
              <a:solidFill>
                <a:srgbClr val="FF6600"/>
              </a:solidFill>
            </a:endParaRPr>
          </a:p>
          <a:p>
            <a:pPr algn="just"/>
            <a:r>
              <a:rPr lang="en-US" dirty="0">
                <a:solidFill>
                  <a:srgbClr val="FF6600"/>
                </a:solidFill>
              </a:rPr>
              <a:t>   </a:t>
            </a:r>
          </a:p>
          <a:p>
            <a:pPr algn="just"/>
            <a:r>
              <a:rPr lang="en-US" sz="2800" dirty="0">
                <a:solidFill>
                  <a:srgbClr val="FF6600"/>
                </a:solidFill>
              </a:rPr>
              <a:t>         </a:t>
            </a:r>
          </a:p>
          <a:p>
            <a:pPr algn="just"/>
            <a:r>
              <a:rPr lang="en-US" sz="2800" dirty="0">
                <a:solidFill>
                  <a:srgbClr val="FF6600"/>
                </a:solidFill>
              </a:rPr>
              <a:t>         </a:t>
            </a:r>
            <a:endParaRPr lang="en-US" sz="3200" dirty="0">
              <a:solidFill>
                <a:srgbClr val="FF6600"/>
              </a:solidFill>
            </a:endParaRPr>
          </a:p>
          <a:p>
            <a:endParaRPr lang="en-US" dirty="0">
              <a:solidFill>
                <a:srgbClr val="FF6600"/>
              </a:solidFill>
            </a:endParaRPr>
          </a:p>
          <a:p>
            <a:endParaRPr lang="en-US" dirty="0">
              <a:solidFill>
                <a:srgbClr val="FF6600"/>
              </a:solidFill>
            </a:endParaRPr>
          </a:p>
        </p:txBody>
      </p:sp>
      <p:pic>
        <p:nvPicPr>
          <p:cNvPr id="4" name="Picture 3">
            <a:extLst>
              <a:ext uri="{FF2B5EF4-FFF2-40B4-BE49-F238E27FC236}">
                <a16:creationId xmlns:a16="http://schemas.microsoft.com/office/drawing/2014/main" id="{7A465064-0714-5743-882B-8875105A70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63771"/>
            <a:ext cx="1654627" cy="994232"/>
          </a:xfrm>
          <a:prstGeom prst="rect">
            <a:avLst/>
          </a:prstGeom>
        </p:spPr>
      </p:pic>
      <p:pic>
        <p:nvPicPr>
          <p:cNvPr id="6" name="Picture 5" descr="A picture containing text, screenshot, plot, diagram&#10;&#10;Description automatically generated">
            <a:extLst>
              <a:ext uri="{FF2B5EF4-FFF2-40B4-BE49-F238E27FC236}">
                <a16:creationId xmlns:a16="http://schemas.microsoft.com/office/drawing/2014/main" id="{E2B9C61D-FDB4-5DE7-91E6-A1A3DF90EF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6338" y="-1"/>
            <a:ext cx="7185662" cy="6858001"/>
          </a:xfrm>
          <a:prstGeom prst="rect">
            <a:avLst/>
          </a:prstGeom>
        </p:spPr>
      </p:pic>
    </p:spTree>
    <p:extLst>
      <p:ext uri="{BB962C8B-B14F-4D97-AF65-F5344CB8AC3E}">
        <p14:creationId xmlns:p14="http://schemas.microsoft.com/office/powerpoint/2010/main" val="2571125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8F26E-9345-4747-9094-972E38700A17}"/>
              </a:ext>
            </a:extLst>
          </p:cNvPr>
          <p:cNvSpPr>
            <a:spLocks noGrp="1"/>
          </p:cNvSpPr>
          <p:nvPr>
            <p:ph type="ctrTitle"/>
          </p:nvPr>
        </p:nvSpPr>
        <p:spPr>
          <a:xfrm rot="5400000">
            <a:off x="-954406" y="954405"/>
            <a:ext cx="6858002" cy="4949191"/>
          </a:xfrm>
          <a:solidFill>
            <a:srgbClr val="3B3B3B"/>
          </a:solidFill>
        </p:spPr>
        <p:txBody>
          <a:bodyPr vert="vert270" anchor="t" anchorCtr="0"/>
          <a:lstStyle/>
          <a:p>
            <a:br>
              <a:rPr lang="en-US" dirty="0"/>
            </a:br>
            <a:br>
              <a:rPr lang="en-US" dirty="0"/>
            </a:br>
            <a:br>
              <a:rPr lang="en-US" dirty="0"/>
            </a:br>
            <a:r>
              <a:rPr lang="en-US" b="1" dirty="0">
                <a:solidFill>
                  <a:srgbClr val="FF6600"/>
                </a:solidFill>
              </a:rPr>
              <a:t>Customer growth analysis</a:t>
            </a:r>
          </a:p>
        </p:txBody>
      </p:sp>
      <p:sp>
        <p:nvSpPr>
          <p:cNvPr id="3" name="Subtitle 2">
            <a:extLst>
              <a:ext uri="{FF2B5EF4-FFF2-40B4-BE49-F238E27FC236}">
                <a16:creationId xmlns:a16="http://schemas.microsoft.com/office/drawing/2014/main" id="{60B3D5A6-E766-7C41-BD00-B22DA4727FBA}"/>
              </a:ext>
            </a:extLst>
          </p:cNvPr>
          <p:cNvSpPr>
            <a:spLocks noGrp="1"/>
          </p:cNvSpPr>
          <p:nvPr>
            <p:ph type="subTitle" idx="1"/>
          </p:nvPr>
        </p:nvSpPr>
        <p:spPr>
          <a:xfrm rot="5400000">
            <a:off x="5141593" y="-192403"/>
            <a:ext cx="6858004" cy="7242809"/>
          </a:xfrm>
        </p:spPr>
        <p:txBody>
          <a:bodyPr vert="vert270">
            <a:normAutofit/>
          </a:bodyPr>
          <a:lstStyle/>
          <a:p>
            <a:endParaRPr lang="en-US" dirty="0">
              <a:solidFill>
                <a:srgbClr val="FF6600"/>
              </a:solidFill>
            </a:endParaRPr>
          </a:p>
          <a:p>
            <a:pPr algn="just"/>
            <a:r>
              <a:rPr lang="en-US" dirty="0">
                <a:solidFill>
                  <a:srgbClr val="FF6600"/>
                </a:solidFill>
              </a:rPr>
              <a:t>   </a:t>
            </a:r>
          </a:p>
          <a:p>
            <a:pPr algn="just"/>
            <a:r>
              <a:rPr lang="en-US" sz="2800" dirty="0">
                <a:solidFill>
                  <a:srgbClr val="FF6600"/>
                </a:solidFill>
              </a:rPr>
              <a:t>         </a:t>
            </a:r>
          </a:p>
          <a:p>
            <a:endParaRPr lang="en-US" sz="3200" dirty="0">
              <a:solidFill>
                <a:srgbClr val="FF6600"/>
              </a:solidFill>
            </a:endParaRPr>
          </a:p>
          <a:p>
            <a:endParaRPr lang="en-US" dirty="0">
              <a:solidFill>
                <a:srgbClr val="FF6600"/>
              </a:solidFill>
            </a:endParaRPr>
          </a:p>
          <a:p>
            <a:endParaRPr lang="en-US" dirty="0">
              <a:solidFill>
                <a:srgbClr val="FF6600"/>
              </a:solidFill>
            </a:endParaRPr>
          </a:p>
        </p:txBody>
      </p:sp>
      <p:pic>
        <p:nvPicPr>
          <p:cNvPr id="4" name="Picture 3">
            <a:extLst>
              <a:ext uri="{FF2B5EF4-FFF2-40B4-BE49-F238E27FC236}">
                <a16:creationId xmlns:a16="http://schemas.microsoft.com/office/drawing/2014/main" id="{7A465064-0714-5743-882B-8875105A70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63771"/>
            <a:ext cx="1654627" cy="994232"/>
          </a:xfrm>
          <a:prstGeom prst="rect">
            <a:avLst/>
          </a:prstGeom>
        </p:spPr>
      </p:pic>
      <p:pic>
        <p:nvPicPr>
          <p:cNvPr id="6" name="Picture 5" descr="A picture containing text, screenshot, diagram, font&#10;&#10;Description automatically generated">
            <a:extLst>
              <a:ext uri="{FF2B5EF4-FFF2-40B4-BE49-F238E27FC236}">
                <a16:creationId xmlns:a16="http://schemas.microsoft.com/office/drawing/2014/main" id="{08BF0CE8-EC11-C2A4-D369-1CAC0371E6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9189" y="0"/>
            <a:ext cx="7242810" cy="6858000"/>
          </a:xfrm>
          <a:prstGeom prst="rect">
            <a:avLst/>
          </a:prstGeom>
        </p:spPr>
      </p:pic>
    </p:spTree>
    <p:extLst>
      <p:ext uri="{BB962C8B-B14F-4D97-AF65-F5344CB8AC3E}">
        <p14:creationId xmlns:p14="http://schemas.microsoft.com/office/powerpoint/2010/main" val="98934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8F26E-9345-4747-9094-972E38700A17}"/>
              </a:ext>
            </a:extLst>
          </p:cNvPr>
          <p:cNvSpPr>
            <a:spLocks noGrp="1"/>
          </p:cNvSpPr>
          <p:nvPr>
            <p:ph type="ctrTitle"/>
          </p:nvPr>
        </p:nvSpPr>
        <p:spPr>
          <a:xfrm rot="5400000">
            <a:off x="-954406" y="954406"/>
            <a:ext cx="6858002" cy="4949190"/>
          </a:xfrm>
          <a:solidFill>
            <a:srgbClr val="3B3B3B"/>
          </a:solidFill>
        </p:spPr>
        <p:txBody>
          <a:bodyPr vert="vert270" anchor="t" anchorCtr="0"/>
          <a:lstStyle/>
          <a:p>
            <a:br>
              <a:rPr lang="en-US" dirty="0"/>
            </a:br>
            <a:br>
              <a:rPr lang="en-US" dirty="0"/>
            </a:br>
            <a:br>
              <a:rPr lang="en-US" dirty="0"/>
            </a:br>
            <a:r>
              <a:rPr lang="en-US" b="1" dirty="0" err="1">
                <a:solidFill>
                  <a:srgbClr val="FF6600"/>
                </a:solidFill>
              </a:rPr>
              <a:t>Citywise</a:t>
            </a:r>
            <a:r>
              <a:rPr lang="en-US" b="1" dirty="0">
                <a:solidFill>
                  <a:srgbClr val="FF6600"/>
                </a:solidFill>
              </a:rPr>
              <a:t> customer analysis</a:t>
            </a:r>
          </a:p>
        </p:txBody>
      </p:sp>
      <p:sp>
        <p:nvSpPr>
          <p:cNvPr id="3" name="Subtitle 2">
            <a:extLst>
              <a:ext uri="{FF2B5EF4-FFF2-40B4-BE49-F238E27FC236}">
                <a16:creationId xmlns:a16="http://schemas.microsoft.com/office/drawing/2014/main" id="{60B3D5A6-E766-7C41-BD00-B22DA4727FBA}"/>
              </a:ext>
            </a:extLst>
          </p:cNvPr>
          <p:cNvSpPr>
            <a:spLocks noGrp="1"/>
          </p:cNvSpPr>
          <p:nvPr>
            <p:ph type="subTitle" idx="1"/>
          </p:nvPr>
        </p:nvSpPr>
        <p:spPr>
          <a:xfrm rot="5400000">
            <a:off x="5141593" y="-192403"/>
            <a:ext cx="6858004" cy="7242809"/>
          </a:xfrm>
        </p:spPr>
        <p:txBody>
          <a:bodyPr vert="vert270">
            <a:normAutofit/>
          </a:bodyPr>
          <a:lstStyle/>
          <a:p>
            <a:endParaRPr lang="en-US" dirty="0">
              <a:solidFill>
                <a:srgbClr val="FF6600"/>
              </a:solidFill>
            </a:endParaRPr>
          </a:p>
          <a:p>
            <a:pPr algn="just"/>
            <a:r>
              <a:rPr lang="en-US" dirty="0">
                <a:solidFill>
                  <a:srgbClr val="FF6600"/>
                </a:solidFill>
              </a:rPr>
              <a:t>   </a:t>
            </a:r>
          </a:p>
          <a:p>
            <a:pPr algn="just"/>
            <a:r>
              <a:rPr lang="en-US" sz="2800" dirty="0">
                <a:solidFill>
                  <a:srgbClr val="FF6600"/>
                </a:solidFill>
              </a:rPr>
              <a:t>         </a:t>
            </a:r>
          </a:p>
          <a:p>
            <a:endParaRPr lang="en-US" sz="3200" dirty="0">
              <a:solidFill>
                <a:srgbClr val="FF6600"/>
              </a:solidFill>
            </a:endParaRPr>
          </a:p>
          <a:p>
            <a:endParaRPr lang="en-US" dirty="0">
              <a:solidFill>
                <a:srgbClr val="FF6600"/>
              </a:solidFill>
            </a:endParaRPr>
          </a:p>
          <a:p>
            <a:endParaRPr lang="en-US" dirty="0">
              <a:solidFill>
                <a:srgbClr val="FF6600"/>
              </a:solidFill>
            </a:endParaRPr>
          </a:p>
        </p:txBody>
      </p:sp>
      <p:pic>
        <p:nvPicPr>
          <p:cNvPr id="4" name="Picture 3">
            <a:extLst>
              <a:ext uri="{FF2B5EF4-FFF2-40B4-BE49-F238E27FC236}">
                <a16:creationId xmlns:a16="http://schemas.microsoft.com/office/drawing/2014/main" id="{7A465064-0714-5743-882B-8875105A70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63771"/>
            <a:ext cx="1654627" cy="994232"/>
          </a:xfrm>
          <a:prstGeom prst="rect">
            <a:avLst/>
          </a:prstGeom>
        </p:spPr>
      </p:pic>
      <p:pic>
        <p:nvPicPr>
          <p:cNvPr id="6" name="Picture 5" descr="A picture containing text, screenshot, font, line&#10;&#10;Description automatically generated">
            <a:extLst>
              <a:ext uri="{FF2B5EF4-FFF2-40B4-BE49-F238E27FC236}">
                <a16:creationId xmlns:a16="http://schemas.microsoft.com/office/drawing/2014/main" id="{FE89C9A5-2BC0-89E2-4574-AA96FCE1C9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9190" y="0"/>
            <a:ext cx="7242810" cy="6858000"/>
          </a:xfrm>
          <a:prstGeom prst="rect">
            <a:avLst/>
          </a:prstGeom>
        </p:spPr>
      </p:pic>
    </p:spTree>
    <p:extLst>
      <p:ext uri="{BB962C8B-B14F-4D97-AF65-F5344CB8AC3E}">
        <p14:creationId xmlns:p14="http://schemas.microsoft.com/office/powerpoint/2010/main" val="2562976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8F26E-9345-4747-9094-972E38700A17}"/>
              </a:ext>
            </a:extLst>
          </p:cNvPr>
          <p:cNvSpPr>
            <a:spLocks noGrp="1"/>
          </p:cNvSpPr>
          <p:nvPr>
            <p:ph type="ctrTitle"/>
          </p:nvPr>
        </p:nvSpPr>
        <p:spPr>
          <a:xfrm rot="5400000">
            <a:off x="-954406" y="954405"/>
            <a:ext cx="6858002" cy="4949191"/>
          </a:xfrm>
          <a:solidFill>
            <a:srgbClr val="3B3B3B"/>
          </a:solidFill>
        </p:spPr>
        <p:txBody>
          <a:bodyPr vert="vert270" anchor="t" anchorCtr="0"/>
          <a:lstStyle/>
          <a:p>
            <a:br>
              <a:rPr lang="en-US" dirty="0"/>
            </a:br>
            <a:br>
              <a:rPr lang="en-US" dirty="0"/>
            </a:br>
            <a:br>
              <a:rPr lang="en-US" dirty="0"/>
            </a:br>
            <a:r>
              <a:rPr lang="en-US" b="1" dirty="0">
                <a:solidFill>
                  <a:srgbClr val="FF6600"/>
                </a:solidFill>
              </a:rPr>
              <a:t>Total rides per city</a:t>
            </a:r>
          </a:p>
        </p:txBody>
      </p:sp>
      <p:sp>
        <p:nvSpPr>
          <p:cNvPr id="3" name="Subtitle 2">
            <a:extLst>
              <a:ext uri="{FF2B5EF4-FFF2-40B4-BE49-F238E27FC236}">
                <a16:creationId xmlns:a16="http://schemas.microsoft.com/office/drawing/2014/main" id="{60B3D5A6-E766-7C41-BD00-B22DA4727FBA}"/>
              </a:ext>
            </a:extLst>
          </p:cNvPr>
          <p:cNvSpPr>
            <a:spLocks noGrp="1"/>
          </p:cNvSpPr>
          <p:nvPr>
            <p:ph type="subTitle" idx="1"/>
          </p:nvPr>
        </p:nvSpPr>
        <p:spPr>
          <a:xfrm rot="5400000">
            <a:off x="5141593" y="-192403"/>
            <a:ext cx="6858004" cy="7242809"/>
          </a:xfrm>
        </p:spPr>
        <p:txBody>
          <a:bodyPr vert="vert270">
            <a:normAutofit/>
          </a:bodyPr>
          <a:lstStyle/>
          <a:p>
            <a:endParaRPr lang="en-US" dirty="0">
              <a:solidFill>
                <a:srgbClr val="FF6600"/>
              </a:solidFill>
            </a:endParaRPr>
          </a:p>
          <a:p>
            <a:pPr algn="just"/>
            <a:r>
              <a:rPr lang="en-US" dirty="0">
                <a:solidFill>
                  <a:srgbClr val="FF6600"/>
                </a:solidFill>
              </a:rPr>
              <a:t>   </a:t>
            </a:r>
          </a:p>
          <a:p>
            <a:pPr algn="just"/>
            <a:r>
              <a:rPr lang="en-US" sz="2800" dirty="0">
                <a:solidFill>
                  <a:srgbClr val="FF6600"/>
                </a:solidFill>
              </a:rPr>
              <a:t>         </a:t>
            </a:r>
          </a:p>
          <a:p>
            <a:pPr algn="just"/>
            <a:r>
              <a:rPr lang="en-US" sz="2800" dirty="0">
                <a:solidFill>
                  <a:srgbClr val="FF6600"/>
                </a:solidFill>
              </a:rPr>
              <a:t>         </a:t>
            </a:r>
            <a:endParaRPr lang="en-US" sz="3200" dirty="0">
              <a:solidFill>
                <a:srgbClr val="FF6600"/>
              </a:solidFill>
            </a:endParaRPr>
          </a:p>
          <a:p>
            <a:endParaRPr lang="en-US" dirty="0">
              <a:solidFill>
                <a:srgbClr val="FF6600"/>
              </a:solidFill>
            </a:endParaRPr>
          </a:p>
          <a:p>
            <a:endParaRPr lang="en-US" dirty="0">
              <a:solidFill>
                <a:srgbClr val="FF6600"/>
              </a:solidFill>
            </a:endParaRPr>
          </a:p>
        </p:txBody>
      </p:sp>
      <p:pic>
        <p:nvPicPr>
          <p:cNvPr id="4" name="Picture 3">
            <a:extLst>
              <a:ext uri="{FF2B5EF4-FFF2-40B4-BE49-F238E27FC236}">
                <a16:creationId xmlns:a16="http://schemas.microsoft.com/office/drawing/2014/main" id="{7A465064-0714-5743-882B-8875105A70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63771"/>
            <a:ext cx="1654627" cy="994232"/>
          </a:xfrm>
          <a:prstGeom prst="rect">
            <a:avLst/>
          </a:prstGeom>
        </p:spPr>
      </p:pic>
      <p:pic>
        <p:nvPicPr>
          <p:cNvPr id="6" name="Picture 5" descr="A picture containing text, screenshot, software, plot&#10;&#10;Description automatically generated">
            <a:extLst>
              <a:ext uri="{FF2B5EF4-FFF2-40B4-BE49-F238E27FC236}">
                <a16:creationId xmlns:a16="http://schemas.microsoft.com/office/drawing/2014/main" id="{CA05E26C-8CCC-C3DD-3375-3E56E74A84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9190" y="-3"/>
            <a:ext cx="7438602" cy="6858000"/>
          </a:xfrm>
          <a:prstGeom prst="rect">
            <a:avLst/>
          </a:prstGeom>
        </p:spPr>
      </p:pic>
    </p:spTree>
    <p:extLst>
      <p:ext uri="{BB962C8B-B14F-4D97-AF65-F5344CB8AC3E}">
        <p14:creationId xmlns:p14="http://schemas.microsoft.com/office/powerpoint/2010/main" val="17629734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8F26E-9345-4747-9094-972E38700A17}"/>
              </a:ext>
            </a:extLst>
          </p:cNvPr>
          <p:cNvSpPr>
            <a:spLocks noGrp="1"/>
          </p:cNvSpPr>
          <p:nvPr>
            <p:ph type="ctrTitle"/>
          </p:nvPr>
        </p:nvSpPr>
        <p:spPr>
          <a:xfrm rot="5400000">
            <a:off x="-960121" y="960120"/>
            <a:ext cx="6858002" cy="4937761"/>
          </a:xfrm>
          <a:solidFill>
            <a:srgbClr val="3B3B3B"/>
          </a:solidFill>
        </p:spPr>
        <p:txBody>
          <a:bodyPr vert="vert270" anchor="t" anchorCtr="0"/>
          <a:lstStyle/>
          <a:p>
            <a:br>
              <a:rPr lang="en-US" dirty="0"/>
            </a:br>
            <a:br>
              <a:rPr lang="en-US" dirty="0"/>
            </a:br>
            <a:br>
              <a:rPr lang="en-US" dirty="0"/>
            </a:br>
            <a:r>
              <a:rPr lang="en-US" b="1" dirty="0">
                <a:solidFill>
                  <a:srgbClr val="FF6600"/>
                </a:solidFill>
              </a:rPr>
              <a:t>Average profit on holidays</a:t>
            </a:r>
          </a:p>
        </p:txBody>
      </p:sp>
      <p:sp>
        <p:nvSpPr>
          <p:cNvPr id="3" name="Subtitle 2">
            <a:extLst>
              <a:ext uri="{FF2B5EF4-FFF2-40B4-BE49-F238E27FC236}">
                <a16:creationId xmlns:a16="http://schemas.microsoft.com/office/drawing/2014/main" id="{60B3D5A6-E766-7C41-BD00-B22DA4727FBA}"/>
              </a:ext>
            </a:extLst>
          </p:cNvPr>
          <p:cNvSpPr>
            <a:spLocks noGrp="1"/>
          </p:cNvSpPr>
          <p:nvPr>
            <p:ph type="subTitle" idx="1"/>
          </p:nvPr>
        </p:nvSpPr>
        <p:spPr>
          <a:xfrm rot="5400000">
            <a:off x="5135878" y="-198118"/>
            <a:ext cx="6858004" cy="7254239"/>
          </a:xfrm>
        </p:spPr>
        <p:txBody>
          <a:bodyPr vert="vert270">
            <a:normAutofit/>
          </a:bodyPr>
          <a:lstStyle/>
          <a:p>
            <a:endParaRPr lang="en-US" dirty="0">
              <a:solidFill>
                <a:srgbClr val="FF6600"/>
              </a:solidFill>
            </a:endParaRPr>
          </a:p>
          <a:p>
            <a:pPr algn="just"/>
            <a:r>
              <a:rPr lang="en-US" dirty="0">
                <a:solidFill>
                  <a:srgbClr val="FF6600"/>
                </a:solidFill>
              </a:rPr>
              <a:t>   </a:t>
            </a:r>
          </a:p>
          <a:p>
            <a:pPr algn="just"/>
            <a:r>
              <a:rPr lang="en-US" sz="2800" dirty="0">
                <a:solidFill>
                  <a:srgbClr val="FF6600"/>
                </a:solidFill>
              </a:rPr>
              <a:t>         </a:t>
            </a:r>
          </a:p>
          <a:p>
            <a:pPr algn="just"/>
            <a:r>
              <a:rPr lang="en-US" sz="2800" dirty="0">
                <a:solidFill>
                  <a:srgbClr val="FF6600"/>
                </a:solidFill>
              </a:rPr>
              <a:t>         </a:t>
            </a:r>
            <a:endParaRPr lang="en-US" sz="3200" dirty="0">
              <a:solidFill>
                <a:srgbClr val="FF6600"/>
              </a:solidFill>
            </a:endParaRPr>
          </a:p>
          <a:p>
            <a:endParaRPr lang="en-US" dirty="0">
              <a:solidFill>
                <a:srgbClr val="FF6600"/>
              </a:solidFill>
            </a:endParaRPr>
          </a:p>
          <a:p>
            <a:endParaRPr lang="en-US" dirty="0">
              <a:solidFill>
                <a:srgbClr val="FF6600"/>
              </a:solidFill>
            </a:endParaRPr>
          </a:p>
        </p:txBody>
      </p:sp>
      <p:pic>
        <p:nvPicPr>
          <p:cNvPr id="4" name="Picture 3">
            <a:extLst>
              <a:ext uri="{FF2B5EF4-FFF2-40B4-BE49-F238E27FC236}">
                <a16:creationId xmlns:a16="http://schemas.microsoft.com/office/drawing/2014/main" id="{7A465064-0714-5743-882B-8875105A70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63771"/>
            <a:ext cx="1654627" cy="994232"/>
          </a:xfrm>
          <a:prstGeom prst="rect">
            <a:avLst/>
          </a:prstGeom>
        </p:spPr>
      </p:pic>
      <p:pic>
        <p:nvPicPr>
          <p:cNvPr id="6" name="Picture 5" descr="A picture containing text, screenshot, diagram, font&#10;&#10;Description automatically generated">
            <a:extLst>
              <a:ext uri="{FF2B5EF4-FFF2-40B4-BE49-F238E27FC236}">
                <a16:creationId xmlns:a16="http://schemas.microsoft.com/office/drawing/2014/main" id="{A5E43920-C301-7E0D-DA10-1CC51644C4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7761" y="0"/>
            <a:ext cx="7254240" cy="6858000"/>
          </a:xfrm>
          <a:prstGeom prst="rect">
            <a:avLst/>
          </a:prstGeom>
        </p:spPr>
      </p:pic>
    </p:spTree>
    <p:extLst>
      <p:ext uri="{BB962C8B-B14F-4D97-AF65-F5344CB8AC3E}">
        <p14:creationId xmlns:p14="http://schemas.microsoft.com/office/powerpoint/2010/main" val="4087690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8F26E-9345-4747-9094-972E38700A17}"/>
              </a:ext>
            </a:extLst>
          </p:cNvPr>
          <p:cNvSpPr>
            <a:spLocks noGrp="1"/>
          </p:cNvSpPr>
          <p:nvPr>
            <p:ph type="ctrTitle"/>
          </p:nvPr>
        </p:nvSpPr>
        <p:spPr>
          <a:xfrm rot="5400000">
            <a:off x="-965836" y="965835"/>
            <a:ext cx="6858002" cy="4926331"/>
          </a:xfrm>
          <a:solidFill>
            <a:srgbClr val="3B3B3B"/>
          </a:solidFill>
        </p:spPr>
        <p:txBody>
          <a:bodyPr vert="vert270" anchor="t" anchorCtr="0"/>
          <a:lstStyle/>
          <a:p>
            <a:br>
              <a:rPr lang="en-US" dirty="0"/>
            </a:br>
            <a:br>
              <a:rPr lang="en-US" dirty="0"/>
            </a:br>
            <a:r>
              <a:rPr lang="en-US" dirty="0"/>
              <a:t> </a:t>
            </a:r>
            <a:r>
              <a:rPr lang="en-US" b="1" dirty="0" err="1">
                <a:solidFill>
                  <a:srgbClr val="FF6600"/>
                </a:solidFill>
              </a:rPr>
              <a:t>Recommendat</a:t>
            </a:r>
            <a:r>
              <a:rPr lang="en-US" b="1" dirty="0">
                <a:solidFill>
                  <a:srgbClr val="FF6600"/>
                </a:solidFill>
              </a:rPr>
              <a:t>-ions on the hypothesis</a:t>
            </a:r>
          </a:p>
        </p:txBody>
      </p:sp>
      <p:sp>
        <p:nvSpPr>
          <p:cNvPr id="3" name="Subtitle 2">
            <a:extLst>
              <a:ext uri="{FF2B5EF4-FFF2-40B4-BE49-F238E27FC236}">
                <a16:creationId xmlns:a16="http://schemas.microsoft.com/office/drawing/2014/main" id="{60B3D5A6-E766-7C41-BD00-B22DA4727FBA}"/>
              </a:ext>
            </a:extLst>
          </p:cNvPr>
          <p:cNvSpPr>
            <a:spLocks noGrp="1"/>
          </p:cNvSpPr>
          <p:nvPr>
            <p:ph type="subTitle" idx="1"/>
          </p:nvPr>
        </p:nvSpPr>
        <p:spPr>
          <a:xfrm rot="5400000">
            <a:off x="5092063" y="97157"/>
            <a:ext cx="6858004" cy="6663690"/>
          </a:xfrm>
        </p:spPr>
        <p:txBody>
          <a:bodyPr vert="vert270">
            <a:normAutofit fontScale="77500" lnSpcReduction="20000"/>
          </a:bodyPr>
          <a:lstStyle/>
          <a:p>
            <a:endParaRPr lang="en-US" dirty="0">
              <a:solidFill>
                <a:srgbClr val="FF6600"/>
              </a:solidFill>
            </a:endParaRPr>
          </a:p>
          <a:p>
            <a:pPr algn="just"/>
            <a:r>
              <a:rPr lang="en-US" dirty="0">
                <a:solidFill>
                  <a:srgbClr val="FF6600"/>
                </a:solidFill>
              </a:rPr>
              <a:t>   </a:t>
            </a:r>
            <a:r>
              <a:rPr lang="en-US" sz="2800" dirty="0">
                <a:solidFill>
                  <a:srgbClr val="FF6600"/>
                </a:solidFill>
              </a:rPr>
              <a:t>    </a:t>
            </a:r>
          </a:p>
          <a:p>
            <a:pPr marL="342900" indent="-342900" algn="l" rtl="0">
              <a:buFont typeface="Arial" panose="020B0604020202020204" pitchFamily="34" charset="0"/>
              <a:buChar char="•"/>
            </a:pPr>
            <a:r>
              <a:rPr lang="en-GB" sz="2600" i="0" u="sng" strike="noStrike" dirty="0">
                <a:solidFill>
                  <a:srgbClr val="000000"/>
                </a:solidFill>
                <a:effectLst/>
              </a:rPr>
              <a:t>Profit Analysis</a:t>
            </a:r>
            <a:r>
              <a:rPr lang="en-GB" sz="2600" b="1" i="0" u="none" strike="noStrike" dirty="0">
                <a:solidFill>
                  <a:srgbClr val="000000"/>
                </a:solidFill>
                <a:effectLst/>
              </a:rPr>
              <a:t>:</a:t>
            </a:r>
            <a:r>
              <a:rPr lang="en-GB" sz="2600" b="0" i="0" u="none" strike="noStrike" dirty="0">
                <a:solidFill>
                  <a:srgbClr val="000000"/>
                </a:solidFill>
                <a:effectLst/>
              </a:rPr>
              <a:t> In this analysis, we compared annual profit, quarterly profit, per </a:t>
            </a:r>
            <a:r>
              <a:rPr lang="en-GB" sz="2600" b="0" i="0" u="none" strike="noStrike" dirty="0" err="1">
                <a:solidFill>
                  <a:srgbClr val="000000"/>
                </a:solidFill>
                <a:effectLst/>
              </a:rPr>
              <a:t>Kilometer</a:t>
            </a:r>
            <a:r>
              <a:rPr lang="en-GB" sz="2600" b="0" i="0" u="none" strike="noStrike" dirty="0">
                <a:solidFill>
                  <a:srgbClr val="000000"/>
                </a:solidFill>
                <a:effectLst/>
              </a:rPr>
              <a:t> profit, per ride profit and results show that the Yellow Cab is performing great with 8 times more profit than Pink cab. </a:t>
            </a:r>
            <a:r>
              <a:rPr lang="en-GB" sz="2600" b="1" i="0" u="none" strike="noStrike" dirty="0">
                <a:solidFill>
                  <a:srgbClr val="000000"/>
                </a:solidFill>
                <a:effectLst/>
              </a:rPr>
              <a:t>Yellow Cab</a:t>
            </a:r>
            <a:endParaRPr lang="en-GB" sz="2600" dirty="0">
              <a:solidFill>
                <a:srgbClr val="000000"/>
              </a:solidFill>
            </a:endParaRPr>
          </a:p>
          <a:p>
            <a:pPr marL="342900" indent="-342900" algn="l" rtl="0">
              <a:buFont typeface="Arial" panose="020B0604020202020204" pitchFamily="34" charset="0"/>
              <a:buChar char="•"/>
            </a:pPr>
            <a:r>
              <a:rPr lang="en-GB" sz="2600" i="0" u="sng" strike="noStrike" dirty="0">
                <a:solidFill>
                  <a:srgbClr val="000000"/>
                </a:solidFill>
                <a:effectLst/>
              </a:rPr>
              <a:t>Number of rides Analysis</a:t>
            </a:r>
            <a:r>
              <a:rPr lang="en-GB" sz="2600" b="1" i="0" u="none" strike="noStrike" dirty="0">
                <a:solidFill>
                  <a:srgbClr val="000000"/>
                </a:solidFill>
                <a:effectLst/>
              </a:rPr>
              <a:t>:</a:t>
            </a:r>
            <a:r>
              <a:rPr lang="en-GB" sz="2600" b="0" i="0" u="none" strike="noStrike" dirty="0">
                <a:solidFill>
                  <a:srgbClr val="000000"/>
                </a:solidFill>
                <a:effectLst/>
              </a:rPr>
              <a:t> In this analysis, we compared average monthly rides, average daily rides which proves that Yellow Cab is more popular. </a:t>
            </a:r>
            <a:r>
              <a:rPr lang="en-GB" sz="2600" b="1" i="0" u="none" strike="noStrike" dirty="0">
                <a:solidFill>
                  <a:srgbClr val="000000"/>
                </a:solidFill>
                <a:effectLst/>
              </a:rPr>
              <a:t>Yellow Cab</a:t>
            </a:r>
            <a:endParaRPr lang="en-GB" sz="2600" dirty="0">
              <a:solidFill>
                <a:srgbClr val="000000"/>
              </a:solidFill>
            </a:endParaRPr>
          </a:p>
          <a:p>
            <a:pPr marL="342900" indent="-342900" algn="l" rtl="0">
              <a:buFont typeface="Arial" panose="020B0604020202020204" pitchFamily="34" charset="0"/>
              <a:buChar char="•"/>
            </a:pPr>
            <a:r>
              <a:rPr lang="en-GB" sz="2600" i="0" u="sng" strike="noStrike" dirty="0">
                <a:solidFill>
                  <a:srgbClr val="000000"/>
                </a:solidFill>
                <a:effectLst/>
              </a:rPr>
              <a:t>Customer Analysis</a:t>
            </a:r>
            <a:r>
              <a:rPr lang="en-GB" sz="2600" b="1" i="0" u="none" strike="noStrike" dirty="0">
                <a:solidFill>
                  <a:srgbClr val="000000"/>
                </a:solidFill>
                <a:effectLst/>
              </a:rPr>
              <a:t>:</a:t>
            </a:r>
            <a:r>
              <a:rPr lang="en-GB" sz="2600" b="0" i="0" u="none" strike="noStrike" dirty="0">
                <a:solidFill>
                  <a:srgbClr val="000000"/>
                </a:solidFill>
                <a:effectLst/>
              </a:rPr>
              <a:t> In this analysis, we compared customer reach and percentage of reach of total cab users and results show that Yellow Cab has more customers than Pink cab. </a:t>
            </a:r>
            <a:r>
              <a:rPr lang="en-GB" sz="2600" b="1" i="0" u="none" strike="noStrike" dirty="0">
                <a:solidFill>
                  <a:srgbClr val="000000"/>
                </a:solidFill>
                <a:effectLst/>
              </a:rPr>
              <a:t>Yellow Cab</a:t>
            </a:r>
          </a:p>
          <a:p>
            <a:pPr marL="342900" indent="-342900" algn="l" rtl="0">
              <a:buFont typeface="Arial" panose="020B0604020202020204" pitchFamily="34" charset="0"/>
              <a:buChar char="•"/>
            </a:pPr>
            <a:r>
              <a:rPr lang="en-GB" sz="2600" i="0" u="sng" strike="noStrike" dirty="0">
                <a:solidFill>
                  <a:srgbClr val="000000"/>
                </a:solidFill>
                <a:effectLst/>
              </a:rPr>
              <a:t>Geographic Location Analysis</a:t>
            </a:r>
            <a:r>
              <a:rPr lang="en-GB" sz="2600" b="1" i="0" u="none" strike="noStrike" dirty="0">
                <a:solidFill>
                  <a:srgbClr val="000000"/>
                </a:solidFill>
                <a:effectLst/>
              </a:rPr>
              <a:t>:</a:t>
            </a:r>
            <a:r>
              <a:rPr lang="en-GB" sz="2600" b="0" i="0" u="none" strike="noStrike" dirty="0">
                <a:solidFill>
                  <a:srgbClr val="000000"/>
                </a:solidFill>
                <a:effectLst/>
              </a:rPr>
              <a:t> In this analysis, we compared </a:t>
            </a:r>
            <a:r>
              <a:rPr lang="en-GB" sz="2600" b="0" i="0" u="none" strike="noStrike" dirty="0" err="1">
                <a:solidFill>
                  <a:srgbClr val="000000"/>
                </a:solidFill>
                <a:effectLst/>
              </a:rPr>
              <a:t>citywise</a:t>
            </a:r>
            <a:r>
              <a:rPr lang="en-GB" sz="2600" b="0" i="0" u="none" strike="noStrike" dirty="0">
                <a:solidFill>
                  <a:srgbClr val="000000"/>
                </a:solidFill>
                <a:effectLst/>
              </a:rPr>
              <a:t> total rides and customer reach. The output is that the Yellow Cab is performing better with 16 cities out of 19. </a:t>
            </a:r>
            <a:r>
              <a:rPr lang="en-GB" sz="2600" b="1" i="0" u="none" strike="noStrike" dirty="0">
                <a:solidFill>
                  <a:srgbClr val="000000"/>
                </a:solidFill>
                <a:effectLst/>
              </a:rPr>
              <a:t>Yellow Cab</a:t>
            </a:r>
            <a:endParaRPr lang="en-GB" sz="2600" dirty="0">
              <a:solidFill>
                <a:srgbClr val="000000"/>
              </a:solidFill>
            </a:endParaRPr>
          </a:p>
          <a:p>
            <a:pPr marL="342900" indent="-342900" algn="l" rtl="0">
              <a:buFont typeface="Arial" panose="020B0604020202020204" pitchFamily="34" charset="0"/>
              <a:buChar char="•"/>
            </a:pPr>
            <a:r>
              <a:rPr lang="en-GB" sz="2600" i="0" u="sng" strike="noStrike" dirty="0">
                <a:solidFill>
                  <a:srgbClr val="000000"/>
                </a:solidFill>
                <a:effectLst/>
              </a:rPr>
              <a:t>Holiday Analysis</a:t>
            </a:r>
            <a:r>
              <a:rPr lang="en-GB" sz="2600" b="1" i="0" u="none" strike="noStrike" dirty="0">
                <a:solidFill>
                  <a:srgbClr val="000000"/>
                </a:solidFill>
                <a:effectLst/>
              </a:rPr>
              <a:t>:</a:t>
            </a:r>
            <a:r>
              <a:rPr lang="en-GB" sz="2600" b="0" i="0" u="none" strike="noStrike" dirty="0">
                <a:solidFill>
                  <a:srgbClr val="000000"/>
                </a:solidFill>
                <a:effectLst/>
              </a:rPr>
              <a:t> In this analysis, we compared profit and rides on holidays for both the companies which brings us to the decision that the Yellow Cab is more popular than Pink cab on holidays too. </a:t>
            </a:r>
            <a:r>
              <a:rPr lang="en-GB" sz="2600" b="1" i="0" u="none" strike="noStrike" dirty="0">
                <a:solidFill>
                  <a:srgbClr val="000000"/>
                </a:solidFill>
                <a:effectLst/>
              </a:rPr>
              <a:t>Yellow Cab</a:t>
            </a:r>
            <a:endParaRPr lang="en-GB" sz="2600" b="0" i="0" u="none" strike="noStrike" dirty="0">
              <a:solidFill>
                <a:srgbClr val="000000"/>
              </a:solidFill>
              <a:effectLst/>
            </a:endParaRPr>
          </a:p>
          <a:p>
            <a:pPr algn="l" rtl="0"/>
            <a:endParaRPr lang="en-GB" sz="2600" b="1" i="0" u="none" strike="noStrike" dirty="0">
              <a:solidFill>
                <a:srgbClr val="000000"/>
              </a:solidFill>
              <a:effectLst/>
            </a:endParaRPr>
          </a:p>
          <a:p>
            <a:pPr algn="l" rtl="0"/>
            <a:r>
              <a:rPr lang="en-GB" sz="2600" b="1" i="0" u="sng" strike="noStrike" dirty="0">
                <a:solidFill>
                  <a:srgbClr val="000000"/>
                </a:solidFill>
                <a:effectLst/>
              </a:rPr>
              <a:t>We recommend, the investment should be done in </a:t>
            </a:r>
            <a:r>
              <a:rPr lang="en-GB" sz="2600" b="1" i="1" u="sng" strike="noStrike" dirty="0">
                <a:solidFill>
                  <a:srgbClr val="000000"/>
                </a:solidFill>
                <a:effectLst/>
              </a:rPr>
              <a:t>Yellow Cab</a:t>
            </a:r>
            <a:r>
              <a:rPr lang="en-GB" sz="2600" b="1" i="0" u="sng" strike="noStrike" dirty="0">
                <a:solidFill>
                  <a:srgbClr val="000000"/>
                </a:solidFill>
                <a:effectLst/>
              </a:rPr>
              <a:t> company.</a:t>
            </a:r>
            <a:endParaRPr lang="en-GB" sz="2600" b="0" i="0" u="sng" strike="noStrike" dirty="0">
              <a:solidFill>
                <a:srgbClr val="000000"/>
              </a:solidFill>
              <a:effectLst/>
            </a:endParaRPr>
          </a:p>
          <a:p>
            <a:pPr algn="just"/>
            <a:endParaRPr lang="en-US" sz="3200" dirty="0">
              <a:solidFill>
                <a:srgbClr val="FF6600"/>
              </a:solidFill>
            </a:endParaRPr>
          </a:p>
          <a:p>
            <a:endParaRPr lang="en-US" dirty="0">
              <a:solidFill>
                <a:srgbClr val="FF6600"/>
              </a:solidFill>
            </a:endParaRPr>
          </a:p>
          <a:p>
            <a:endParaRPr lang="en-US" dirty="0">
              <a:solidFill>
                <a:srgbClr val="FF6600"/>
              </a:solidFill>
            </a:endParaRPr>
          </a:p>
        </p:txBody>
      </p:sp>
      <p:pic>
        <p:nvPicPr>
          <p:cNvPr id="4" name="Picture 3">
            <a:extLst>
              <a:ext uri="{FF2B5EF4-FFF2-40B4-BE49-F238E27FC236}">
                <a16:creationId xmlns:a16="http://schemas.microsoft.com/office/drawing/2014/main" id="{7A465064-0714-5743-882B-8875105A70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63771"/>
            <a:ext cx="1654627" cy="994232"/>
          </a:xfrm>
          <a:prstGeom prst="rect">
            <a:avLst/>
          </a:prstGeom>
        </p:spPr>
      </p:pic>
    </p:spTree>
    <p:extLst>
      <p:ext uri="{BB962C8B-B14F-4D97-AF65-F5344CB8AC3E}">
        <p14:creationId xmlns:p14="http://schemas.microsoft.com/office/powerpoint/2010/main" val="1134774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8F26E-9345-4747-9094-972E38700A17}"/>
              </a:ext>
            </a:extLst>
          </p:cNvPr>
          <p:cNvSpPr>
            <a:spLocks noGrp="1"/>
          </p:cNvSpPr>
          <p:nvPr>
            <p:ph type="ctrTitle"/>
          </p:nvPr>
        </p:nvSpPr>
        <p:spPr>
          <a:xfrm rot="5400000">
            <a:off x="-562431" y="562430"/>
            <a:ext cx="6858002" cy="5733142"/>
          </a:xfrm>
          <a:solidFill>
            <a:srgbClr val="3B3B3B"/>
          </a:solidFill>
        </p:spPr>
        <p:txBody>
          <a:bodyPr vert="vert270" anchor="t" anchorCtr="0"/>
          <a:lstStyle/>
          <a:p>
            <a:r>
              <a:rPr lang="en-US" b="1" dirty="0">
                <a:solidFill>
                  <a:srgbClr val="FF6600"/>
                </a:solidFill>
              </a:rPr>
              <a:t>Walvekar, Pavan</a:t>
            </a:r>
            <a:br>
              <a:rPr lang="en-US" b="1" dirty="0">
                <a:solidFill>
                  <a:srgbClr val="FF6600"/>
                </a:solidFill>
              </a:rPr>
            </a:br>
            <a:r>
              <a:rPr lang="en-US" b="1" dirty="0">
                <a:solidFill>
                  <a:srgbClr val="FF6600"/>
                </a:solidFill>
              </a:rPr>
              <a:t>(LISUM22)</a:t>
            </a:r>
          </a:p>
        </p:txBody>
      </p:sp>
      <p:pic>
        <p:nvPicPr>
          <p:cNvPr id="4" name="Picture 3">
            <a:extLst>
              <a:ext uri="{FF2B5EF4-FFF2-40B4-BE49-F238E27FC236}">
                <a16:creationId xmlns:a16="http://schemas.microsoft.com/office/drawing/2014/main" id="{7A465064-0714-5743-882B-8875105A70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63771"/>
            <a:ext cx="1654627" cy="994232"/>
          </a:xfrm>
          <a:prstGeom prst="rect">
            <a:avLst/>
          </a:prstGeom>
        </p:spPr>
      </p:pic>
      <p:sp>
        <p:nvSpPr>
          <p:cNvPr id="6" name="Subtitle 5">
            <a:extLst>
              <a:ext uri="{FF2B5EF4-FFF2-40B4-BE49-F238E27FC236}">
                <a16:creationId xmlns:a16="http://schemas.microsoft.com/office/drawing/2014/main" id="{2D4BA697-580E-5544-8F2F-194AD99B859F}"/>
              </a:ext>
            </a:extLst>
          </p:cNvPr>
          <p:cNvSpPr>
            <a:spLocks noGrp="1"/>
          </p:cNvSpPr>
          <p:nvPr>
            <p:ph type="subTitle" idx="1"/>
          </p:nvPr>
        </p:nvSpPr>
        <p:spPr>
          <a:xfrm>
            <a:off x="5152570" y="2481943"/>
            <a:ext cx="5558973" cy="1655762"/>
          </a:xfrm>
        </p:spPr>
        <p:txBody>
          <a:bodyPr>
            <a:normAutofit/>
          </a:bodyPr>
          <a:lstStyle/>
          <a:p>
            <a:r>
              <a:rPr lang="en-US" sz="6600" dirty="0">
                <a:solidFill>
                  <a:srgbClr val="FF6600"/>
                </a:solidFill>
              </a:rPr>
              <a:t>Thank You</a:t>
            </a:r>
          </a:p>
          <a:p>
            <a:endParaRPr lang="en-US" sz="6600" dirty="0">
              <a:solidFill>
                <a:srgbClr val="FF6600"/>
              </a:solidFill>
            </a:endParaRPr>
          </a:p>
        </p:txBody>
      </p:sp>
    </p:spTree>
    <p:extLst>
      <p:ext uri="{BB962C8B-B14F-4D97-AF65-F5344CB8AC3E}">
        <p14:creationId xmlns:p14="http://schemas.microsoft.com/office/powerpoint/2010/main" val="11682106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ta Glacier Internship" id="{2B17C0A9-4F1A-394C-9305-82F12CA26E4F}" vid="{F9955FDF-826E-7C4D-B52C-017E9540C8B9}"/>
    </a:ext>
  </a:extLst>
</a:theme>
</file>

<file path=docProps/app.xml><?xml version="1.0" encoding="utf-8"?>
<Properties xmlns="http://schemas.openxmlformats.org/officeDocument/2006/extended-properties" xmlns:vt="http://schemas.openxmlformats.org/officeDocument/2006/docPropsVTypes">
  <Template>Office Theme</Template>
  <TotalTime>47</TotalTime>
  <Words>540</Words>
  <Application>Microsoft Macintosh PowerPoint</Application>
  <PresentationFormat>Widescreen</PresentationFormat>
  <Paragraphs>68</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PowerPoint Presentation</vt:lpstr>
      <vt:lpstr>  Background And Information About Data</vt:lpstr>
      <vt:lpstr>   Hypothesis</vt:lpstr>
      <vt:lpstr>   Profit per ride analysis</vt:lpstr>
      <vt:lpstr>   Average monthly ride analysis</vt:lpstr>
      <vt:lpstr>   Customer growth analysis</vt:lpstr>
      <vt:lpstr>   Citywise customer analysis</vt:lpstr>
      <vt:lpstr>   Total rides per city</vt:lpstr>
      <vt:lpstr>   Average profit on holidays</vt:lpstr>
      <vt:lpstr>   Recommendat-ions on the hypothesis</vt:lpstr>
      <vt:lpstr>Walvekar, Pavan (LISUM22)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Walvekar, Pavan (2021)</dc:creator>
  <cp:lastModifiedBy>Walvekar, Pavan (2021)</cp:lastModifiedBy>
  <cp:revision>1</cp:revision>
  <dcterms:created xsi:type="dcterms:W3CDTF">2023-06-21T21:28:24Z</dcterms:created>
  <dcterms:modified xsi:type="dcterms:W3CDTF">2023-06-21T22:16:15Z</dcterms:modified>
</cp:coreProperties>
</file>